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640080"/>
            <a:ext cx="54864" cy="5486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896112"/>
            <a:ext cx="54864" cy="5486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75520" y="1152144"/>
            <a:ext cx="54864" cy="5486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75520" y="1408176"/>
            <a:ext cx="54864" cy="5486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131552" y="640080"/>
            <a:ext cx="54864" cy="5486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31552" y="896112"/>
            <a:ext cx="54864" cy="5486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31552" y="1152144"/>
            <a:ext cx="54864" cy="5486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31552" y="1408176"/>
            <a:ext cx="54864" cy="5486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87584" y="640080"/>
            <a:ext cx="54864" cy="5486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87584" y="896112"/>
            <a:ext cx="54864" cy="5486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87584" y="1152144"/>
            <a:ext cx="54864" cy="5486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87584" y="1408176"/>
            <a:ext cx="54864" cy="5486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643616" y="640080"/>
            <a:ext cx="54864" cy="5486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43616" y="896112"/>
            <a:ext cx="54864" cy="5486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43616" y="1152144"/>
            <a:ext cx="54864" cy="5486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643616" y="1408176"/>
            <a:ext cx="54864" cy="5486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99648" y="640080"/>
            <a:ext cx="54864" cy="5486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899648" y="896112"/>
            <a:ext cx="54864" cy="5486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899648" y="1152144"/>
            <a:ext cx="54864" cy="5486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899648" y="1408176"/>
            <a:ext cx="54864" cy="5486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155680" y="640080"/>
            <a:ext cx="54864" cy="5486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155680" y="896112"/>
            <a:ext cx="54864" cy="5486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155680" y="1152144"/>
            <a:ext cx="54864" cy="5486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155680" y="1408176"/>
            <a:ext cx="54864" cy="5486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1554480"/>
            <a:ext cx="1463040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1737360"/>
            <a:ext cx="100584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Segoe UI"/>
              </a:rPr>
              <a:t>Self-Service</a:t>
            </a:r>
          </a:p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Segoe UI"/>
              </a:rPr>
              <a:t>Digital Assistant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84048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8AA0BD"/>
                </a:solidFill>
                <a:latin typeface="Segoe UI"/>
              </a:rPr>
              <a:t>A chatbot that answers from your own documents.</a:t>
            </a:r>
          </a:p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8AA0BD"/>
                </a:solidFill>
                <a:latin typeface="Segoe UI"/>
              </a:rPr>
              <a:t>Amazon Lex  +  Bedrock Knowledge Base  +  RAG.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5212080"/>
            <a:ext cx="1371600" cy="640080"/>
          </a:xfrm>
          <a:prstGeom prst="roundRect">
            <a:avLst/>
          </a:prstGeom>
          <a:solidFill>
            <a:srgbClr val="111A2E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358384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22D3EE"/>
                </a:solidFill>
                <a:latin typeface="Segoe UI"/>
              </a:rPr>
              <a:t>USER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423160" y="5212080"/>
            <a:ext cx="1371600" cy="640080"/>
          </a:xfrm>
          <a:prstGeom prst="roundRect">
            <a:avLst/>
          </a:prstGeom>
          <a:solidFill>
            <a:srgbClr val="111A2E"/>
          </a:solidFill>
          <a:ln w="15875">
            <a:solidFill>
              <a:srgbClr val="10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23160" y="5358384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07C6A"/>
                </a:solidFill>
                <a:latin typeface="Segoe UI"/>
              </a:rPr>
              <a:t>LEX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023360" y="5212080"/>
            <a:ext cx="1371600" cy="640080"/>
          </a:xfrm>
          <a:prstGeom prst="roundRect">
            <a:avLst/>
          </a:prstGeom>
          <a:solidFill>
            <a:srgbClr val="111A2E"/>
          </a:solidFill>
          <a:ln w="15875">
            <a:solidFill>
              <a:srgbClr val="3C9B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23360" y="5358384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3C9B46"/>
                </a:solidFill>
                <a:latin typeface="Segoe UI"/>
              </a:rPr>
              <a:t>BEDROCK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23560" y="5212080"/>
            <a:ext cx="1371600" cy="640080"/>
          </a:xfrm>
          <a:prstGeom prst="roundRect">
            <a:avLst/>
          </a:prstGeom>
          <a:solidFill>
            <a:srgbClr val="111A2E"/>
          </a:solidFill>
          <a:ln w="15875">
            <a:solidFill>
              <a:srgbClr val="F7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23560" y="5358384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79900"/>
                </a:solidFill>
                <a:latin typeface="Segoe UI"/>
              </a:rPr>
              <a:t>S3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632764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8AA0BD"/>
                </a:solidFill>
                <a:latin typeface="Segoe UI"/>
              </a:rPr>
              <a:t>cloudkida</a:t>
            </a:r>
          </a:p>
        </p:txBody>
      </p:sp>
      <p:sp>
        <p:nvSpPr>
          <p:cNvPr id="40" name="Oval 39"/>
          <p:cNvSpPr/>
          <p:nvPr/>
        </p:nvSpPr>
        <p:spPr>
          <a:xfrm>
            <a:off x="9528048" y="6400800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31520"/>
            <a:ext cx="1463040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The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4937760" cy="3566160"/>
          </a:xfrm>
          <a:prstGeom prst="roundRect">
            <a:avLst/>
          </a:prstGeom>
          <a:solidFill>
            <a:srgbClr val="111A2E"/>
          </a:solidFill>
          <a:ln w="15875">
            <a:solidFill>
              <a:srgbClr val="8A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448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08A8A"/>
                </a:solidFill>
                <a:latin typeface="Segoe UI"/>
              </a:rPr>
              <a:t>Before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44805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E6EDF6"/>
                </a:solidFill>
                <a:latin typeface="Segoe UI"/>
              </a:rPr>
              <a:t>Repetitive questions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E6EDF6"/>
                </a:solidFill>
                <a:latin typeface="Segoe UI"/>
              </a:rPr>
              <a:t>Overloaded support agents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E6EDF6"/>
                </a:solidFill>
                <a:latin typeface="Segoe UI"/>
              </a:rPr>
              <a:t>Manual FAQ upkeep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E6EDF6"/>
                </a:solidFill>
                <a:latin typeface="Segoe UI"/>
              </a:rPr>
              <a:t>Slow, inconsistent answers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103120"/>
            <a:ext cx="4937760" cy="3566160"/>
          </a:xfrm>
          <a:prstGeom prst="roundRect">
            <a:avLst/>
          </a:prstGeom>
          <a:solidFill>
            <a:srgbClr val="111A2E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377440"/>
            <a:ext cx="448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2D3EE"/>
                </a:solidFill>
                <a:latin typeface="Segoe UI"/>
              </a:rP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017520"/>
            <a:ext cx="44805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E6EDF6"/>
                </a:solidFill>
                <a:latin typeface="Segoe UI"/>
              </a:rPr>
              <a:t>Instant self-service answers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E6EDF6"/>
                </a:solidFill>
                <a:latin typeface="Segoe UI"/>
              </a:rPr>
              <a:t>Grounded in your docs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E6EDF6"/>
                </a:solidFill>
                <a:latin typeface="Segoe UI"/>
              </a:rPr>
              <a:t>Agents freed for hard cases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E6EDF6"/>
                </a:solidFill>
                <a:latin typeface="Segoe UI"/>
              </a:rPr>
              <a:t>Always up to date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06440" y="3611880"/>
            <a:ext cx="548640" cy="502920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0" y="632764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8AA0BD"/>
                </a:solidFill>
                <a:latin typeface="Segoe UI"/>
              </a:rPr>
              <a:t>cloudkida</a:t>
            </a:r>
          </a:p>
        </p:txBody>
      </p:sp>
      <p:sp>
        <p:nvSpPr>
          <p:cNvPr id="13" name="Oval 12"/>
          <p:cNvSpPr/>
          <p:nvPr/>
        </p:nvSpPr>
        <p:spPr>
          <a:xfrm>
            <a:off x="9528048" y="6400800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920240"/>
          </a:xfrm>
          <a:prstGeom prst="rect">
            <a:avLst/>
          </a:prstGeom>
          <a:solidFill>
            <a:srgbClr val="107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Amazon Lex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325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D5F0EB"/>
                </a:solidFill>
                <a:latin typeface="Segoe UI"/>
              </a:rPr>
              <a:t>Conversational AI — voice &amp; 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108960"/>
            <a:ext cx="9966960" cy="45720"/>
          </a:xfrm>
          <a:prstGeom prst="rect">
            <a:avLst/>
          </a:prstGeom>
          <a:solidFill>
            <a:srgbClr val="8AA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11680" y="2999232"/>
            <a:ext cx="256032" cy="25603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Alexa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AA0BD"/>
                </a:solidFill>
                <a:latin typeface="Segoe UI"/>
              </a:rPr>
              <a:t>Same tech that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AA0BD"/>
                </a:solidFill>
                <a:latin typeface="Segoe UI"/>
              </a:rPr>
              <a:t>powers Alexa</a:t>
            </a:r>
          </a:p>
        </p:txBody>
      </p:sp>
      <p:sp>
        <p:nvSpPr>
          <p:cNvPr id="10" name="Oval 9"/>
          <p:cNvSpPr/>
          <p:nvPr/>
        </p:nvSpPr>
        <p:spPr>
          <a:xfrm>
            <a:off x="6035040" y="2999232"/>
            <a:ext cx="256032" cy="256032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22860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Amazon Lex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74320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AA0BD"/>
                </a:solidFill>
                <a:latin typeface="Segoe UI"/>
              </a:rPr>
              <a:t>Alexa's engine,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AA0BD"/>
                </a:solidFill>
                <a:latin typeface="Segoe UI"/>
              </a:rPr>
              <a:t>for developers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0" y="2999232"/>
            <a:ext cx="256032" cy="256032"/>
          </a:xfrm>
          <a:prstGeom prst="ellipse">
            <a:avLst/>
          </a:prstGeom>
          <a:solidFill>
            <a:srgbClr val="3C9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22860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QnAIntent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74320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AA0BD"/>
                </a:solidFill>
                <a:latin typeface="Segoe UI"/>
              </a:rPr>
              <a:t>GenAI FAQ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AA0BD"/>
                </a:solidFill>
                <a:latin typeface="Segoe UI"/>
              </a:rPr>
              <a:t>from your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5720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E6EDF6"/>
                </a:solidFill>
                <a:latin typeface="Segoe UI"/>
              </a:rPr>
              <a:t>Lex uses the deep learning behind Alexa — automatic speech recognition</a:t>
            </a:r>
          </a:p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E6EDF6"/>
                </a:solidFill>
                <a:latin typeface="Segoe UI"/>
              </a:rPr>
              <a:t>and natural language understanding — packaged for building bots.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632764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8AA0BD"/>
                </a:solidFill>
                <a:latin typeface="Segoe UI"/>
              </a:rPr>
              <a:t>cloudkida</a:t>
            </a:r>
          </a:p>
        </p:txBody>
      </p:sp>
      <p:sp>
        <p:nvSpPr>
          <p:cNvPr id="18" name="Oval 17"/>
          <p:cNvSpPr/>
          <p:nvPr/>
        </p:nvSpPr>
        <p:spPr>
          <a:xfrm>
            <a:off x="9528048" y="6400800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C9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731520"/>
            <a:ext cx="1463040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Amazon Bedrock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8AA0BD"/>
                </a:solidFill>
                <a:latin typeface="Segoe UI"/>
              </a:rPr>
              <a:t>Foundation models, fully managed.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34640"/>
            <a:ext cx="3383280" cy="2743200"/>
          </a:xfrm>
          <a:prstGeom prst="roundRect">
            <a:avLst/>
          </a:prstGeom>
          <a:solidFill>
            <a:srgbClr val="111A2E"/>
          </a:solidFill>
          <a:ln w="15875">
            <a:solidFill>
              <a:srgbClr val="3C9B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3108960"/>
            <a:ext cx="640080" cy="640080"/>
          </a:xfrm>
          <a:prstGeom prst="ellipse">
            <a:avLst/>
          </a:prstGeom>
          <a:solidFill>
            <a:srgbClr val="3C9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931920"/>
            <a:ext cx="2834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</a:rPr>
              <a:t>Foundation</a:t>
            </a:r>
          </a:p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</a:rPr>
              <a:t>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93776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AA0BD"/>
                </a:solidFill>
                <a:latin typeface="Segoe UI"/>
              </a:rPr>
              <a:t>Claude · Nova · Titan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834640"/>
            <a:ext cx="3383280" cy="2743200"/>
          </a:xfrm>
          <a:prstGeom prst="roundRect">
            <a:avLst/>
          </a:prstGeom>
          <a:solidFill>
            <a:srgbClr val="111A2E"/>
          </a:solidFill>
          <a:ln w="1587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09160" y="3108960"/>
            <a:ext cx="640080" cy="64008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3931920"/>
            <a:ext cx="2834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</a:rPr>
              <a:t>Knowledge</a:t>
            </a:r>
          </a:p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</a:rPr>
              <a:t>Bases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493776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AA0BD"/>
                </a:solidFill>
                <a:latin typeface="Segoe UI"/>
              </a:rPr>
              <a:t>RAG over your docs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834640"/>
            <a:ext cx="3383280" cy="2743200"/>
          </a:xfrm>
          <a:prstGeom prst="roundRect">
            <a:avLst/>
          </a:prstGeom>
          <a:solidFill>
            <a:srgbClr val="111A2E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21040" y="3108960"/>
            <a:ext cx="640080" cy="64008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931920"/>
            <a:ext cx="2834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</a:rPr>
              <a:t>Managed</a:t>
            </a:r>
          </a:p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</a:rPr>
              <a:t>&amp; Serverless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93776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AA0BD"/>
                </a:solidFill>
                <a:latin typeface="Segoe UI"/>
              </a:rPr>
              <a:t>No infra to 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632764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8AA0BD"/>
                </a:solidFill>
                <a:latin typeface="Segoe UI"/>
              </a:rPr>
              <a:t>cloudkida</a:t>
            </a:r>
          </a:p>
        </p:txBody>
      </p:sp>
      <p:sp>
        <p:nvSpPr>
          <p:cNvPr id="20" name="Oval 19"/>
          <p:cNvSpPr/>
          <p:nvPr/>
        </p:nvSpPr>
        <p:spPr>
          <a:xfrm>
            <a:off x="9528048" y="6400800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31520"/>
            <a:ext cx="1463040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Going Further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8AA0BD"/>
                </a:solidFill>
                <a:latin typeface="Segoe UI"/>
              </a:rPr>
              <a:t>The broader AWS AI toolkit.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834640"/>
            <a:ext cx="3291840" cy="1280160"/>
          </a:xfrm>
          <a:prstGeom prst="roundRect">
            <a:avLst/>
          </a:prstGeom>
          <a:solidFill>
            <a:srgbClr val="111A2E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3154680"/>
            <a:ext cx="640080" cy="64008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19" y="3090672"/>
            <a:ext cx="2103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Amazon</a:t>
            </a:r>
          </a:p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834640"/>
            <a:ext cx="3291840" cy="1280160"/>
          </a:xfrm>
          <a:prstGeom prst="roundRect">
            <a:avLst/>
          </a:prstGeom>
          <a:solidFill>
            <a:srgbClr val="111A2E"/>
          </a:solidFill>
          <a:ln w="1587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09160" y="3154680"/>
            <a:ext cx="640080" cy="64008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0" y="3090672"/>
            <a:ext cx="2103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Amazon</a:t>
            </a:r>
          </a:p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Comprehend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834640"/>
            <a:ext cx="3291840" cy="1280160"/>
          </a:xfrm>
          <a:prstGeom prst="roundRect">
            <a:avLst/>
          </a:prstGeom>
          <a:solidFill>
            <a:srgbClr val="111A2E"/>
          </a:solidFill>
          <a:ln w="15875">
            <a:solidFill>
              <a:srgbClr val="3C9B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66760" y="3154680"/>
            <a:ext cx="640080" cy="640080"/>
          </a:xfrm>
          <a:prstGeom prst="ellipse">
            <a:avLst/>
          </a:prstGeom>
          <a:solidFill>
            <a:srgbClr val="3C9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20" y="3090672"/>
            <a:ext cx="2103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Amazon</a:t>
            </a:r>
          </a:p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Textract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80560"/>
            <a:ext cx="3291840" cy="1280160"/>
          </a:xfrm>
          <a:prstGeom prst="roundRect">
            <a:avLst/>
          </a:prstGeom>
          <a:solidFill>
            <a:srgbClr val="111A2E"/>
          </a:solidFill>
          <a:ln w="15875">
            <a:solidFill>
              <a:srgbClr val="F7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1560" y="4800600"/>
            <a:ext cx="640080" cy="640080"/>
          </a:xfrm>
          <a:prstGeom prst="ellipse">
            <a:avLst/>
          </a:prstGeom>
          <a:solidFill>
            <a:srgbClr val="F7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74519" y="4736592"/>
            <a:ext cx="2103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Amazon</a:t>
            </a:r>
          </a:p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Polly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4480560"/>
            <a:ext cx="3291840" cy="1280160"/>
          </a:xfrm>
          <a:prstGeom prst="roundRect">
            <a:avLst/>
          </a:prstGeom>
          <a:solidFill>
            <a:srgbClr val="111A2E"/>
          </a:solidFill>
          <a:ln w="15875">
            <a:solidFill>
              <a:srgbClr val="10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09160" y="4800600"/>
            <a:ext cx="640080" cy="640080"/>
          </a:xfrm>
          <a:prstGeom prst="ellipse">
            <a:avLst/>
          </a:prstGeom>
          <a:solidFill>
            <a:srgbClr val="107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32120" y="4736592"/>
            <a:ext cx="2103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Amazon</a:t>
            </a:r>
          </a:p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Transcribe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4480560"/>
            <a:ext cx="3291840" cy="1280160"/>
          </a:xfrm>
          <a:prstGeom prst="roundRect">
            <a:avLst/>
          </a:prstGeom>
          <a:solidFill>
            <a:srgbClr val="111A2E"/>
          </a:solidFill>
          <a:ln w="1587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66760" y="4800600"/>
            <a:ext cx="640080" cy="64008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20" y="4736592"/>
            <a:ext cx="2103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Amazon</a:t>
            </a:r>
          </a:p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Kendra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632764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8AA0BD"/>
                </a:solidFill>
                <a:latin typeface="Segoe UI"/>
              </a:rPr>
              <a:t>cloudkida</a:t>
            </a:r>
          </a:p>
        </p:txBody>
      </p:sp>
      <p:sp>
        <p:nvSpPr>
          <p:cNvPr id="25" name="Oval 24"/>
          <p:cNvSpPr/>
          <p:nvPr/>
        </p:nvSpPr>
        <p:spPr>
          <a:xfrm>
            <a:off x="9528048" y="6400800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